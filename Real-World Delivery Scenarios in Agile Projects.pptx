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65AA9-9B15-5C7A-FA16-893FC8F9A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E60B1D-0C3F-0469-CE2D-5200E7F54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13E9E-1A1C-911D-13CC-CFE64842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6681-83C7-45A2-8EEA-44F42D6C66E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74537-9EAA-CF54-E766-C1506FFDB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3D4E7-06B1-E108-EF7E-82C77AD0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1F9B3-31AE-4DE4-BF02-DA091E701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19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56AD-6AA1-9409-775E-5567D0FC0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DB772-3A54-FD65-3CE7-8B31658CF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630CD-3A98-518E-1521-8E33A6DD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6681-83C7-45A2-8EEA-44F42D6C66E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8EFFC-D373-78CF-FE6A-8B40D27E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77B2B-04E8-5DD0-914B-56A2CD4D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1F9B3-31AE-4DE4-BF02-DA091E701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13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6FB66-9E63-3ABE-7F22-EDBB8832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B37A6-3CFA-CA76-1493-CA098057E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45BFB-7A31-2A76-84A6-BEA8696F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6681-83C7-45A2-8EEA-44F42D6C66E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3A892-057B-A2A7-8324-D219718A5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1095C-8850-09CC-5595-9814D524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1F9B3-31AE-4DE4-BF02-DA091E701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29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0C06-8217-3DA3-8EF6-490FB748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ECCB5-3083-D668-4628-1435A210C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F4D67-0C07-9E42-733D-EAFABB8E2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E48A5-38A8-EAA4-0D45-872F7D84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6681-83C7-45A2-8EEA-44F42D6C66E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51D96-285D-C296-81AF-9EB71CE2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98D34-0C02-54F7-AE14-FE61321F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1F9B3-31AE-4DE4-BF02-DA091E701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167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5ADEA-1C9D-B3F4-4FAF-4A8E3DD50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B5360-5B85-7937-82C6-64CD88546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58C62-7C1B-47D1-2D5A-77454FA58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DF8C72-09A3-E865-01B1-9E2FC2FB8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8B42F4-A485-316A-C9F2-89EB67DEF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B8323-4DE8-C84D-69E6-2992F6AC4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6681-83C7-45A2-8EEA-44F42D6C66E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56845A-E92E-3D47-2645-37DB711AD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FC94F2-7214-92EC-DE0A-DCAE9C18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1F9B3-31AE-4DE4-BF02-DA091E701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565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5E4F-6EA6-D01E-28D9-EB82BC3C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CEB7BA-3C47-0BA1-7D62-0BD45B74F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6681-83C7-45A2-8EEA-44F42D6C66E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D3910-AF5A-B19C-F76A-8A90148DC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61EFB-8281-393C-0197-D1199422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1F9B3-31AE-4DE4-BF02-DA091E701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529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8EEBD5-61E1-BB8B-7E11-129763099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6681-83C7-45A2-8EEA-44F42D6C66E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0F47AC-9557-17FC-1B83-C513A69A6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A6E2D-0CC1-7D45-21E3-5F8594F6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1F9B3-31AE-4DE4-BF02-DA091E701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165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503B2-E9A8-CE33-CDF1-5938AB672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64D9-BA66-968C-CEC1-E6EFCD5C6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41256-A45E-830B-B4C3-6AC16F45B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94712-1A7A-3D2C-6507-C7F4CEC9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6681-83C7-45A2-8EEA-44F42D6C66E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B15FF-C9F0-5C0E-6455-624EAD21C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CAD23-9148-17B1-320D-A47630DD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1F9B3-31AE-4DE4-BF02-DA091E701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168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A4FE-A7C7-6F4B-65D3-5EB32BE5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842BFF-1F56-FC8F-75B8-B664A8EC6D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FCA2B-B625-667A-F970-10122AC25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90620-656B-04FB-5E29-A0169EEA1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6681-83C7-45A2-8EEA-44F42D6C66E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04B61-C005-3955-14ED-AAC360CB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477BD-1FA3-381A-7F26-14DFE8BF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1F9B3-31AE-4DE4-BF02-DA091E701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80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7007-5295-389E-DD6A-2F313C567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BD7EC-AFEC-1E94-502F-93D686041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6BA6-E4A3-B877-42AE-7A0421ACE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6681-83C7-45A2-8EEA-44F42D6C66E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8B215-7DCF-49A8-A84C-95DE7D0E9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BEB0B-CFF9-1CA4-2BEA-D2A3C96A6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1F9B3-31AE-4DE4-BF02-DA091E701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234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0C2E3F-E9A6-7F2A-9EC9-A81BDABDB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8FCFD-EE56-AEE4-BFB4-6BE1C96AC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F6115-8B59-878B-41F8-D8460BBD6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6681-83C7-45A2-8EEA-44F42D6C66E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781E9-5C39-B5E7-9AE7-45CC595D3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76720-7280-16EF-AF1D-83FF6CD9D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1F9B3-31AE-4DE4-BF02-DA091E701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79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9DF2CD-9E13-7298-EBBC-ACA11DD5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6986B-5573-A22D-BD2D-B9763CC17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1D6BB-8E97-DA07-90BF-0B77A2627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616681-83C7-45A2-8EEA-44F42D6C66E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56567-8578-40C8-F9F7-9F190CFA62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4E0BF-415D-32D3-E71D-B4C51D7FD1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1F9B3-31AE-4DE4-BF02-DA091E701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46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561FEE-1464-4350-D508-368DA24D0469}"/>
              </a:ext>
            </a:extLst>
          </p:cNvPr>
          <p:cNvSpPr txBox="1"/>
          <p:nvPr/>
        </p:nvSpPr>
        <p:spPr>
          <a:xfrm>
            <a:off x="3047245" y="342729"/>
            <a:ext cx="689345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u="sng" dirty="0"/>
              <a:t>Real-World Delivery Scenarios in Agile Projects</a:t>
            </a:r>
          </a:p>
          <a:p>
            <a:pPr>
              <a:buNone/>
            </a:pPr>
            <a:endParaRPr lang="en-US" sz="1200" u="sng" dirty="0"/>
          </a:p>
          <a:p>
            <a:pPr>
              <a:buNone/>
            </a:pPr>
            <a:r>
              <a:rPr lang="en-US" sz="1200" dirty="0"/>
              <a:t>I’m currently working through </a:t>
            </a:r>
            <a:r>
              <a:rPr lang="en-US" sz="1200" b="1" dirty="0"/>
              <a:t>real-time project scenarios</a:t>
            </a:r>
            <a:r>
              <a:rPr lang="en-US" sz="1200" dirty="0"/>
              <a:t> where </a:t>
            </a:r>
            <a:r>
              <a:rPr lang="en-US" sz="1200" b="1" dirty="0"/>
              <a:t>multiple teams collaborate on a single feature within the same release</a:t>
            </a:r>
            <a:r>
              <a:rPr lang="en-US" sz="1200" dirty="0"/>
              <a:t>.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u="sng" dirty="0"/>
              <a:t>Consider this common situation: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Team A</a:t>
            </a:r>
            <a:r>
              <a:rPr lang="en-US" sz="1200" dirty="0"/>
              <a:t> and </a:t>
            </a:r>
            <a:r>
              <a:rPr lang="en-US" sz="1200" b="1" dirty="0"/>
              <a:t>Team B</a:t>
            </a:r>
            <a:r>
              <a:rPr lang="en-US" sz="1200" dirty="0"/>
              <a:t> are jointly delivering a feature.</a:t>
            </a:r>
          </a:p>
          <a:p>
            <a:endParaRPr lang="en-US" sz="1200" dirty="0"/>
          </a:p>
          <a:p>
            <a:r>
              <a:rPr lang="en-US" sz="1200" u="sng" dirty="0"/>
              <a:t>Issue found: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During integration, </a:t>
            </a:r>
            <a:r>
              <a:rPr lang="en-US" sz="1200" b="1" dirty="0"/>
              <a:t>Team A identifies an error occurring at the interface with Team B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pPr>
              <a:buNone/>
            </a:pPr>
            <a:r>
              <a:rPr lang="en-US" sz="1200" dirty="0"/>
              <a:t>As a Business Analyst, the key responsibility is not just identifying the issue—but </a:t>
            </a:r>
            <a:r>
              <a:rPr lang="en-US" sz="1200" b="1" dirty="0"/>
              <a:t>analyzing ownership and determining the most efficient resolution path</a:t>
            </a:r>
            <a:r>
              <a:rPr lang="en-US" sz="1200" dirty="0"/>
              <a:t>.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/>
              <a:t>The analysis typically involves: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Assessing </a:t>
            </a:r>
            <a:r>
              <a:rPr lang="en-US" sz="1200" b="1" dirty="0"/>
              <a:t>feature-level impact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Evaluating </a:t>
            </a:r>
            <a:r>
              <a:rPr lang="en-US" sz="1200" b="1" dirty="0"/>
              <a:t>customer experience implications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Identifying </a:t>
            </a:r>
            <a:r>
              <a:rPr lang="en-US" sz="1200" b="1" dirty="0"/>
              <a:t>risk of code breakage or regression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Understanding </a:t>
            </a:r>
            <a:r>
              <a:rPr lang="en-US" sz="1200" b="1" dirty="0"/>
              <a:t>system ownership and source of truth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Estimating </a:t>
            </a:r>
            <a:r>
              <a:rPr lang="en-US" sz="1200" b="1" dirty="0"/>
              <a:t>development and testing effort</a:t>
            </a:r>
          </a:p>
          <a:p>
            <a:endParaRPr lang="en-US" sz="1200" dirty="0"/>
          </a:p>
          <a:p>
            <a:pPr>
              <a:buNone/>
            </a:pPr>
            <a:r>
              <a:rPr lang="en-US" sz="1200" dirty="0"/>
              <a:t>Based on this, we decide the optimal approach:</a:t>
            </a:r>
            <a:br>
              <a:rPr lang="en-US" sz="1200" dirty="0"/>
            </a:br>
            <a:r>
              <a:rPr lang="en-US" sz="1200" dirty="0"/>
              <a:t>1️⃣ Fix required from </a:t>
            </a:r>
            <a:r>
              <a:rPr lang="en-US" sz="1200" b="1" dirty="0"/>
              <a:t>both teams</a:t>
            </a:r>
            <a:br>
              <a:rPr lang="en-US" sz="1200" dirty="0"/>
            </a:br>
            <a:r>
              <a:rPr lang="en-US" sz="1200" dirty="0"/>
              <a:t>2️⃣ Fix required from </a:t>
            </a:r>
            <a:r>
              <a:rPr lang="en-US" sz="1200" b="1" dirty="0"/>
              <a:t>Team A only</a:t>
            </a:r>
            <a:br>
              <a:rPr lang="en-US" sz="1200" dirty="0"/>
            </a:br>
            <a:r>
              <a:rPr lang="en-US" sz="1200" dirty="0"/>
              <a:t>3️⃣ Fix required from </a:t>
            </a:r>
            <a:r>
              <a:rPr lang="en-US" sz="1200" b="1" dirty="0"/>
              <a:t>Team B only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/>
              <a:t>The ultimate goal is to ensure a </a:t>
            </a:r>
            <a:r>
              <a:rPr lang="en-US" sz="1200" b="1" dirty="0"/>
              <a:t>minimum viable, low-risk solution</a:t>
            </a:r>
            <a:r>
              <a:rPr lang="en-US" sz="1200" dirty="0"/>
              <a:t> that enables on-time delivery while maintaining quality and customer trust.</a:t>
            </a:r>
          </a:p>
          <a:p>
            <a:pPr>
              <a:buNone/>
            </a:pPr>
            <a:r>
              <a:rPr lang="en-US" sz="1200" dirty="0"/>
              <a:t>This kind of structured decision-making is critical in </a:t>
            </a:r>
            <a:r>
              <a:rPr lang="en-US" sz="1200" b="1" dirty="0"/>
              <a:t>complex eCommerce and integration-heavy environments</a:t>
            </a:r>
            <a:r>
              <a:rPr lang="en-US" sz="12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5CB1A-4F70-CD6E-3476-D44E568579DC}"/>
              </a:ext>
            </a:extLst>
          </p:cNvPr>
          <p:cNvSpPr/>
          <p:nvPr/>
        </p:nvSpPr>
        <p:spPr>
          <a:xfrm>
            <a:off x="2480648" y="199176"/>
            <a:ext cx="7460056" cy="62016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24980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9548B6D-97B1-80C7-BFF3-A629A8E145F6}"/>
              </a:ext>
            </a:extLst>
          </p:cNvPr>
          <p:cNvSpPr txBox="1"/>
          <p:nvPr/>
        </p:nvSpPr>
        <p:spPr>
          <a:xfrm>
            <a:off x="3014804" y="660904"/>
            <a:ext cx="6944008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Case 1</a:t>
            </a:r>
            <a:r>
              <a:rPr lang="en-IN" b="1" dirty="0"/>
              <a:t>: Payment Status Mismatch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❓ Issue</a:t>
            </a:r>
          </a:p>
          <a:p>
            <a:pPr>
              <a:buNone/>
            </a:pPr>
            <a:r>
              <a:rPr lang="en-IN" dirty="0"/>
              <a:t>Team A (Checkout UI) shows </a:t>
            </a:r>
            <a:r>
              <a:rPr lang="en-IN" b="1" dirty="0"/>
              <a:t>Payment Failed</a:t>
            </a:r>
            <a:r>
              <a:rPr lang="en-IN" dirty="0"/>
              <a:t>, but Team B (Payment Gateway API) returns </a:t>
            </a:r>
            <a:r>
              <a:rPr lang="en-IN" b="1" dirty="0"/>
              <a:t>Success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🔍 Analysis</a:t>
            </a:r>
          </a:p>
          <a:p>
            <a:r>
              <a:rPr lang="en-IN" dirty="0"/>
              <a:t>Customer impact: High (duplicate payments risk)</a:t>
            </a:r>
          </a:p>
          <a:p>
            <a:r>
              <a:rPr lang="en-IN" dirty="0"/>
              <a:t>Source of truth: Gateway response</a:t>
            </a:r>
          </a:p>
          <a:p>
            <a:r>
              <a:rPr lang="en-IN" dirty="0"/>
              <a:t>Code ownership: Team B owns status mapping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✅ Decision</a:t>
            </a:r>
          </a:p>
          <a:p>
            <a:pPr>
              <a:buNone/>
            </a:pPr>
            <a:r>
              <a:rPr lang="en-IN" dirty="0"/>
              <a:t>✔ </a:t>
            </a:r>
            <a:r>
              <a:rPr lang="en-IN" b="1" dirty="0"/>
              <a:t>Only Team B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🎯 Reason</a:t>
            </a:r>
          </a:p>
          <a:p>
            <a:pPr>
              <a:buNone/>
            </a:pPr>
            <a:r>
              <a:rPr lang="en-IN" dirty="0"/>
              <a:t>Incorrect status mapping at API layer. Fixing UI alone is risky.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🚀 MVP Logic (minimum viable product delivery)</a:t>
            </a:r>
          </a:p>
          <a:p>
            <a:pPr>
              <a:buNone/>
            </a:pPr>
            <a:r>
              <a:rPr lang="en-IN" dirty="0"/>
              <a:t>Single backend fix, minimal regression.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7170E6-202E-2C91-5B7D-60E36F2E6531}"/>
              </a:ext>
            </a:extLst>
          </p:cNvPr>
          <p:cNvSpPr/>
          <p:nvPr/>
        </p:nvSpPr>
        <p:spPr>
          <a:xfrm>
            <a:off x="2498756" y="389299"/>
            <a:ext cx="7460056" cy="62016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482417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B030A3-CA8E-629D-9250-A153FDE333EF}"/>
              </a:ext>
            </a:extLst>
          </p:cNvPr>
          <p:cNvSpPr txBox="1"/>
          <p:nvPr/>
        </p:nvSpPr>
        <p:spPr>
          <a:xfrm>
            <a:off x="3047246" y="661151"/>
            <a:ext cx="609750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Case 2</a:t>
            </a:r>
            <a:r>
              <a:rPr lang="en-IN" b="1" dirty="0"/>
              <a:t>: Error Message Not User-Friendly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❓ Issue</a:t>
            </a:r>
          </a:p>
          <a:p>
            <a:pPr>
              <a:buNone/>
            </a:pPr>
            <a:r>
              <a:rPr lang="en-IN" dirty="0"/>
              <a:t>Gateway error code displayed as raw JSON on UI.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🔍 Analysis</a:t>
            </a:r>
          </a:p>
          <a:p>
            <a:r>
              <a:rPr lang="en-IN" dirty="0"/>
              <a:t>CX impact: Medium</a:t>
            </a:r>
          </a:p>
          <a:p>
            <a:r>
              <a:rPr lang="en-IN" dirty="0"/>
              <a:t>API works correctly</a:t>
            </a:r>
          </a:p>
          <a:p>
            <a:r>
              <a:rPr lang="en-IN" dirty="0"/>
              <a:t>UI formatting issue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✅ Decision</a:t>
            </a:r>
          </a:p>
          <a:p>
            <a:pPr>
              <a:buNone/>
            </a:pPr>
            <a:r>
              <a:rPr lang="en-IN" dirty="0"/>
              <a:t>✔ </a:t>
            </a:r>
            <a:r>
              <a:rPr lang="en-IN" b="1" dirty="0"/>
              <a:t>Only Team A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🎯 Reason</a:t>
            </a:r>
          </a:p>
          <a:p>
            <a:pPr>
              <a:buNone/>
            </a:pPr>
            <a:r>
              <a:rPr lang="en-IN" dirty="0"/>
              <a:t>UI responsibility to translate error codes.</a:t>
            </a:r>
          </a:p>
          <a:p>
            <a:pPr>
              <a:buNone/>
            </a:pPr>
            <a:endParaRPr lang="en-IN" dirty="0"/>
          </a:p>
          <a:p>
            <a:r>
              <a:rPr lang="en-IN" b="1" dirty="0"/>
              <a:t>🚀 </a:t>
            </a:r>
            <a:r>
              <a:rPr lang="en-IN" b="1" dirty="0" err="1"/>
              <a:t>MVPLogic</a:t>
            </a:r>
            <a:r>
              <a:rPr lang="en-IN" b="1" dirty="0"/>
              <a:t> (minimum viable product delivery)</a:t>
            </a:r>
          </a:p>
          <a:p>
            <a:pPr>
              <a:buNone/>
            </a:pPr>
            <a:r>
              <a:rPr lang="en-IN" dirty="0"/>
              <a:t>Quick UI fix, no backend testing required.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456D09-F7FE-28FC-BA78-24C8E2A53F94}"/>
              </a:ext>
            </a:extLst>
          </p:cNvPr>
          <p:cNvSpPr/>
          <p:nvPr/>
        </p:nvSpPr>
        <p:spPr>
          <a:xfrm>
            <a:off x="2100404" y="328188"/>
            <a:ext cx="7460056" cy="62016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957098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A9913B-9DA1-4CAB-A5C9-C48BAF9D0915}"/>
              </a:ext>
            </a:extLst>
          </p:cNvPr>
          <p:cNvSpPr txBox="1"/>
          <p:nvPr/>
        </p:nvSpPr>
        <p:spPr>
          <a:xfrm>
            <a:off x="3311305" y="738973"/>
            <a:ext cx="6097508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Case 3: </a:t>
            </a:r>
            <a:r>
              <a:rPr lang="en-IN" b="1" dirty="0"/>
              <a:t>Delayed Order Confirmation Email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❓ Issue</a:t>
            </a:r>
          </a:p>
          <a:p>
            <a:pPr>
              <a:buNone/>
            </a:pPr>
            <a:r>
              <a:rPr lang="en-IN" dirty="0"/>
              <a:t>Order placed but confirmation email delayed due to status lag.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🔍 Analysis</a:t>
            </a:r>
          </a:p>
          <a:p>
            <a:r>
              <a:rPr lang="en-IN" dirty="0"/>
              <a:t>CX impact: Medium</a:t>
            </a:r>
          </a:p>
          <a:p>
            <a:r>
              <a:rPr lang="en-IN" dirty="0"/>
              <a:t>Dependency on order finalization event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✅ Decision</a:t>
            </a:r>
          </a:p>
          <a:p>
            <a:pPr>
              <a:buNone/>
            </a:pPr>
            <a:r>
              <a:rPr lang="en-IN" dirty="0"/>
              <a:t>✔ </a:t>
            </a:r>
            <a:r>
              <a:rPr lang="en-IN" b="1" dirty="0"/>
              <a:t>Only Team B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🎯 Reason</a:t>
            </a:r>
          </a:p>
          <a:p>
            <a:pPr>
              <a:buNone/>
            </a:pPr>
            <a:r>
              <a:rPr lang="en-IN" dirty="0"/>
              <a:t>Event triggering delay in backend.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7E89E8-279E-6E6E-C60E-24D31E13AA15}"/>
              </a:ext>
            </a:extLst>
          </p:cNvPr>
          <p:cNvSpPr/>
          <p:nvPr/>
        </p:nvSpPr>
        <p:spPr>
          <a:xfrm>
            <a:off x="2598344" y="301028"/>
            <a:ext cx="6663351" cy="58689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573184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387</Words>
  <Application>Microsoft Office PowerPoint</Application>
  <PresentationFormat>Widescreen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mrshameemacc@outlook.com</dc:creator>
  <cp:lastModifiedBy>mrshameemacc@outlook.com</cp:lastModifiedBy>
  <cp:revision>4</cp:revision>
  <dcterms:created xsi:type="dcterms:W3CDTF">2025-12-26T14:23:47Z</dcterms:created>
  <dcterms:modified xsi:type="dcterms:W3CDTF">2026-01-25T16:51:48Z</dcterms:modified>
</cp:coreProperties>
</file>